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agrid Ultra-Bold" charset="1" panose="00000800000000000000"/>
      <p:regular r:id="rId16"/>
    </p:embeddedFont>
    <p:embeddedFont>
      <p:font typeface="Livvic" charset="1" panose="00000000000000000000"/>
      <p:regular r:id="rId17"/>
    </p:embeddedFont>
    <p:embeddedFont>
      <p:font typeface="Livvic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D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567" y="669726"/>
            <a:ext cx="6539844" cy="8947548"/>
          </a:xfrm>
          <a:custGeom>
            <a:avLst/>
            <a:gdLst/>
            <a:ahLst/>
            <a:cxnLst/>
            <a:rect r="r" b="b" t="t" l="l"/>
            <a:pathLst>
              <a:path h="8947548" w="6539844">
                <a:moveTo>
                  <a:pt x="0" y="0"/>
                </a:moveTo>
                <a:lnTo>
                  <a:pt x="6539844" y="0"/>
                </a:lnTo>
                <a:lnTo>
                  <a:pt x="6539844" y="8947548"/>
                </a:lnTo>
                <a:lnTo>
                  <a:pt x="0" y="8947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3223" y="2562610"/>
            <a:ext cx="345577" cy="345577"/>
          </a:xfrm>
          <a:custGeom>
            <a:avLst/>
            <a:gdLst/>
            <a:ahLst/>
            <a:cxnLst/>
            <a:rect r="r" b="b" t="t" l="l"/>
            <a:pathLst>
              <a:path h="345577" w="345577">
                <a:moveTo>
                  <a:pt x="0" y="0"/>
                </a:moveTo>
                <a:lnTo>
                  <a:pt x="345577" y="0"/>
                </a:lnTo>
                <a:lnTo>
                  <a:pt x="345577" y="345577"/>
                </a:lnTo>
                <a:lnTo>
                  <a:pt x="0" y="345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85330" y="3355596"/>
            <a:ext cx="9642198" cy="3463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4"/>
              </a:lnSpc>
            </a:pPr>
            <a:r>
              <a:rPr lang="en-US" b="true" sz="8484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FALL DETECTION CHEST STRAP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86938" y="7057255"/>
            <a:ext cx="4329868" cy="120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4"/>
              </a:lnSpc>
            </a:pPr>
            <a:r>
              <a:rPr lang="en-US" sz="2344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MARIA ANTONOVA</a:t>
            </a:r>
          </a:p>
          <a:p>
            <a:pPr algn="just">
              <a:lnSpc>
                <a:spcPts val="2344"/>
              </a:lnSpc>
            </a:pPr>
            <a:r>
              <a:rPr lang="en-US" sz="2344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SADMAN SHOWMIK</a:t>
            </a:r>
          </a:p>
          <a:p>
            <a:pPr algn="just">
              <a:lnSpc>
                <a:spcPts val="2344"/>
              </a:lnSpc>
            </a:pPr>
            <a:r>
              <a:rPr lang="en-US" sz="2344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NIKO SALMELAINEN</a:t>
            </a:r>
          </a:p>
          <a:p>
            <a:pPr algn="just">
              <a:lnSpc>
                <a:spcPts val="2344"/>
              </a:lnSpc>
            </a:pPr>
            <a:r>
              <a:rPr lang="en-US" sz="2344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JINGYAO WANG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50734" y="2600710"/>
            <a:ext cx="6311390" cy="31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sz="2344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ACCESSIBLE CARE TO EVERYONE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F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2418" y="1801120"/>
            <a:ext cx="6902111" cy="120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US" b="true" sz="8784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ABOUT US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42717" y="2971394"/>
            <a:ext cx="3941514" cy="802695"/>
            <a:chOff x="0" y="0"/>
            <a:chExt cx="1038094" cy="211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094" cy="211409"/>
            </a:xfrm>
            <a:custGeom>
              <a:avLst/>
              <a:gdLst/>
              <a:ahLst/>
              <a:cxnLst/>
              <a:rect r="r" b="b" t="t" l="l"/>
              <a:pathLst>
                <a:path h="211409" w="1038094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52DEA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038094" cy="173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48540" y="3232320"/>
            <a:ext cx="4329868" cy="31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b="true" sz="2344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HACKATHON 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2418" y="4325913"/>
            <a:ext cx="6902111" cy="37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We are second-year students from the Electronics degree at Metropolia UAS.</a:t>
            </a:r>
          </a:p>
          <a:p>
            <a:pPr algn="just">
              <a:lnSpc>
                <a:spcPts val="4335"/>
              </a:lnSpc>
            </a:pPr>
          </a:p>
          <a:p>
            <a:pPr algn="just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We are highly motivated students who seek to apply the academic knowledge and practical background we have gained during our university studies.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83566" y="765926"/>
            <a:ext cx="8868014" cy="8755148"/>
          </a:xfrm>
          <a:custGeom>
            <a:avLst/>
            <a:gdLst/>
            <a:ahLst/>
            <a:cxnLst/>
            <a:rect r="r" b="b" t="t" l="l"/>
            <a:pathLst>
              <a:path h="8755148" w="8868014">
                <a:moveTo>
                  <a:pt x="0" y="0"/>
                </a:moveTo>
                <a:lnTo>
                  <a:pt x="8868013" y="0"/>
                </a:lnTo>
                <a:lnTo>
                  <a:pt x="8868013" y="8755148"/>
                </a:lnTo>
                <a:lnTo>
                  <a:pt x="0" y="8755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F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2602" y="1162050"/>
            <a:ext cx="7192726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MISSION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27084" y="6084024"/>
            <a:ext cx="7192726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VISION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4677" y="2193932"/>
            <a:ext cx="8294689" cy="32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The mission of this chest strap is to provide exceptional and accessible healthcare to all elderly individuals. It enhances their safety by detecting a strong fall and alerting medical personnel and the possible emergency contact(s) of the person in danger.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6232" y="7335002"/>
            <a:ext cx="8314559" cy="160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Our vision is to enhance the quality and accessibility of medical technologies through smart sensors and advanced innovations.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573551" y="402232"/>
            <a:ext cx="7420066" cy="7924342"/>
          </a:xfrm>
          <a:custGeom>
            <a:avLst/>
            <a:gdLst/>
            <a:ahLst/>
            <a:cxnLst/>
            <a:rect r="r" b="b" t="t" l="l"/>
            <a:pathLst>
              <a:path h="7924342" w="7420066">
                <a:moveTo>
                  <a:pt x="0" y="0"/>
                </a:moveTo>
                <a:lnTo>
                  <a:pt x="7420067" y="0"/>
                </a:lnTo>
                <a:lnTo>
                  <a:pt x="7420067" y="7924342"/>
                </a:lnTo>
                <a:lnTo>
                  <a:pt x="0" y="792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759471" y="7042874"/>
            <a:ext cx="3048226" cy="3048226"/>
            <a:chOff x="0" y="0"/>
            <a:chExt cx="8909050" cy="890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10012" y="2402"/>
              <a:ext cx="9329074" cy="8904246"/>
            </a:xfrm>
            <a:custGeom>
              <a:avLst/>
              <a:gdLst/>
              <a:ahLst/>
              <a:cxnLst/>
              <a:rect r="r" b="b" t="t" l="l"/>
              <a:pathLst>
                <a:path h="8904246" w="9329074">
                  <a:moveTo>
                    <a:pt x="4664537" y="7123"/>
                  </a:moveTo>
                  <a:cubicBezTo>
                    <a:pt x="3071756" y="0"/>
                    <a:pt x="1596908" y="845651"/>
                    <a:pt x="798454" y="2223865"/>
                  </a:cubicBezTo>
                  <a:cubicBezTo>
                    <a:pt x="0" y="3602079"/>
                    <a:pt x="0" y="5302167"/>
                    <a:pt x="798454" y="6680382"/>
                  </a:cubicBezTo>
                  <a:cubicBezTo>
                    <a:pt x="1596908" y="8058595"/>
                    <a:pt x="3071756" y="8904246"/>
                    <a:pt x="4664537" y="8897123"/>
                  </a:cubicBezTo>
                  <a:cubicBezTo>
                    <a:pt x="6257318" y="8904246"/>
                    <a:pt x="7732166" y="8058595"/>
                    <a:pt x="8530620" y="6680382"/>
                  </a:cubicBezTo>
                  <a:cubicBezTo>
                    <a:pt x="9329074" y="5302167"/>
                    <a:pt x="9329074" y="3602079"/>
                    <a:pt x="8530620" y="2223865"/>
                  </a:cubicBezTo>
                  <a:cubicBezTo>
                    <a:pt x="7732166" y="845651"/>
                    <a:pt x="6257318" y="0"/>
                    <a:pt x="4664537" y="7123"/>
                  </a:cubicBezTo>
                  <a:close/>
                </a:path>
              </a:pathLst>
            </a:custGeom>
            <a:solidFill>
              <a:srgbClr val="03417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863" y="263805"/>
              <a:ext cx="8781323" cy="8381440"/>
            </a:xfrm>
            <a:custGeom>
              <a:avLst/>
              <a:gdLst/>
              <a:ahLst/>
              <a:cxnLst/>
              <a:rect r="r" b="b" t="t" l="l"/>
              <a:pathLst>
                <a:path h="8381440" w="8781323">
                  <a:moveTo>
                    <a:pt x="4390662" y="6705"/>
                  </a:moveTo>
                  <a:cubicBezTo>
                    <a:pt x="2891400" y="0"/>
                    <a:pt x="1503147" y="795999"/>
                    <a:pt x="751573" y="2093292"/>
                  </a:cubicBezTo>
                  <a:cubicBezTo>
                    <a:pt x="0" y="3390586"/>
                    <a:pt x="0" y="4990854"/>
                    <a:pt x="751573" y="6288148"/>
                  </a:cubicBezTo>
                  <a:cubicBezTo>
                    <a:pt x="1503147" y="7585441"/>
                    <a:pt x="2891400" y="8381440"/>
                    <a:pt x="4390662" y="8374735"/>
                  </a:cubicBezTo>
                  <a:cubicBezTo>
                    <a:pt x="5889924" y="8381440"/>
                    <a:pt x="7278177" y="7585441"/>
                    <a:pt x="8029751" y="6288148"/>
                  </a:cubicBezTo>
                  <a:cubicBezTo>
                    <a:pt x="8781323" y="4990854"/>
                    <a:pt x="8781323" y="3390586"/>
                    <a:pt x="8029751" y="2093292"/>
                  </a:cubicBezTo>
                  <a:cubicBezTo>
                    <a:pt x="7278177" y="795999"/>
                    <a:pt x="5889924" y="0"/>
                    <a:pt x="4390662" y="6705"/>
                  </a:cubicBezTo>
                  <a:close/>
                </a:path>
              </a:pathLst>
            </a:custGeom>
            <a:blipFill>
              <a:blip r:embed="rId4"/>
              <a:stretch>
                <a:fillRect l="223" t="0" r="22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F4CE1D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D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286" y="5143500"/>
            <a:ext cx="5087294" cy="4837554"/>
          </a:xfrm>
          <a:custGeom>
            <a:avLst/>
            <a:gdLst/>
            <a:ahLst/>
            <a:cxnLst/>
            <a:rect r="r" b="b" t="t" l="l"/>
            <a:pathLst>
              <a:path h="4837554" w="5087294">
                <a:moveTo>
                  <a:pt x="0" y="0"/>
                </a:moveTo>
                <a:lnTo>
                  <a:pt x="5087293" y="0"/>
                </a:lnTo>
                <a:lnTo>
                  <a:pt x="5087293" y="4837554"/>
                </a:lnTo>
                <a:lnTo>
                  <a:pt x="0" y="4837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288455" y="205488"/>
            <a:ext cx="5113121" cy="5113121"/>
            <a:chOff x="0" y="0"/>
            <a:chExt cx="8909050" cy="890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10012" y="2402"/>
              <a:ext cx="9329074" cy="8904246"/>
            </a:xfrm>
            <a:custGeom>
              <a:avLst/>
              <a:gdLst/>
              <a:ahLst/>
              <a:cxnLst/>
              <a:rect r="r" b="b" t="t" l="l"/>
              <a:pathLst>
                <a:path h="8904246" w="9329074">
                  <a:moveTo>
                    <a:pt x="4664537" y="7123"/>
                  </a:moveTo>
                  <a:cubicBezTo>
                    <a:pt x="3071756" y="0"/>
                    <a:pt x="1596908" y="845651"/>
                    <a:pt x="798454" y="2223865"/>
                  </a:cubicBezTo>
                  <a:cubicBezTo>
                    <a:pt x="0" y="3602079"/>
                    <a:pt x="0" y="5302167"/>
                    <a:pt x="798454" y="6680382"/>
                  </a:cubicBezTo>
                  <a:cubicBezTo>
                    <a:pt x="1596908" y="8058595"/>
                    <a:pt x="3071756" y="8904246"/>
                    <a:pt x="4664537" y="8897123"/>
                  </a:cubicBezTo>
                  <a:cubicBezTo>
                    <a:pt x="6257318" y="8904246"/>
                    <a:pt x="7732166" y="8058595"/>
                    <a:pt x="8530620" y="6680382"/>
                  </a:cubicBezTo>
                  <a:cubicBezTo>
                    <a:pt x="9329074" y="5302167"/>
                    <a:pt x="9329074" y="3602079"/>
                    <a:pt x="8530620" y="2223865"/>
                  </a:cubicBezTo>
                  <a:cubicBezTo>
                    <a:pt x="7732166" y="845651"/>
                    <a:pt x="6257318" y="0"/>
                    <a:pt x="4664537" y="7123"/>
                  </a:cubicBezTo>
                  <a:close/>
                </a:path>
              </a:pathLst>
            </a:custGeom>
            <a:solidFill>
              <a:srgbClr val="034172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863" y="263805"/>
              <a:ext cx="8781323" cy="8381440"/>
            </a:xfrm>
            <a:custGeom>
              <a:avLst/>
              <a:gdLst/>
              <a:ahLst/>
              <a:cxnLst/>
              <a:rect r="r" b="b" t="t" l="l"/>
              <a:pathLst>
                <a:path h="8381440" w="8781323">
                  <a:moveTo>
                    <a:pt x="4390662" y="6705"/>
                  </a:moveTo>
                  <a:cubicBezTo>
                    <a:pt x="2891400" y="0"/>
                    <a:pt x="1503147" y="795999"/>
                    <a:pt x="751573" y="2093292"/>
                  </a:cubicBezTo>
                  <a:cubicBezTo>
                    <a:pt x="0" y="3390586"/>
                    <a:pt x="0" y="4990854"/>
                    <a:pt x="751573" y="6288148"/>
                  </a:cubicBezTo>
                  <a:cubicBezTo>
                    <a:pt x="1503147" y="7585441"/>
                    <a:pt x="2891400" y="8381440"/>
                    <a:pt x="4390662" y="8374735"/>
                  </a:cubicBezTo>
                  <a:cubicBezTo>
                    <a:pt x="5889924" y="8381440"/>
                    <a:pt x="7278177" y="7585441"/>
                    <a:pt x="8029751" y="6288148"/>
                  </a:cubicBezTo>
                  <a:cubicBezTo>
                    <a:pt x="8781323" y="4990854"/>
                    <a:pt x="8781323" y="3390586"/>
                    <a:pt x="8029751" y="2093292"/>
                  </a:cubicBezTo>
                  <a:cubicBezTo>
                    <a:pt x="7278177" y="795999"/>
                    <a:pt x="5889924" y="0"/>
                    <a:pt x="4390662" y="6705"/>
                  </a:cubicBezTo>
                  <a:close/>
                </a:path>
              </a:pathLst>
            </a:custGeom>
            <a:blipFill>
              <a:blip r:embed="rId4"/>
              <a:stretch>
                <a:fillRect l="-12177" t="0" r="-2350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F4CE1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39360" y="2813666"/>
            <a:ext cx="9119940" cy="3469722"/>
            <a:chOff x="0" y="0"/>
            <a:chExt cx="12159920" cy="46262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2326" cy="615947"/>
            </a:xfrm>
            <a:custGeom>
              <a:avLst/>
              <a:gdLst/>
              <a:ahLst/>
              <a:cxnLst/>
              <a:rect r="r" b="b" t="t" l="l"/>
              <a:pathLst>
                <a:path h="615947" w="722326">
                  <a:moveTo>
                    <a:pt x="0" y="0"/>
                  </a:moveTo>
                  <a:lnTo>
                    <a:pt x="722326" y="0"/>
                  </a:lnTo>
                  <a:lnTo>
                    <a:pt x="722326" y="615947"/>
                  </a:lnTo>
                  <a:lnTo>
                    <a:pt x="0" y="61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722326" y="-47625"/>
              <a:ext cx="11437594" cy="4673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55"/>
                </a:lnSpc>
              </a:pPr>
              <a:r>
                <a:rPr lang="en-US" sz="2896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Falls are a major health risk for elderly individuals, especially those living alone</a:t>
              </a:r>
            </a:p>
            <a:p>
              <a:pPr algn="just">
                <a:lnSpc>
                  <a:spcPts val="1820"/>
                </a:lnSpc>
              </a:pPr>
            </a:p>
            <a:p>
              <a:pPr algn="just">
                <a:lnSpc>
                  <a:spcPts val="4055"/>
                </a:lnSpc>
              </a:pPr>
              <a:r>
                <a:rPr lang="en-US" sz="2896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Many elderly people struggle to get help in time, leading to severe injuries or complications</a:t>
              </a:r>
            </a:p>
            <a:p>
              <a:pPr algn="just">
                <a:lnSpc>
                  <a:spcPts val="1820"/>
                </a:lnSpc>
              </a:pPr>
            </a:p>
            <a:p>
              <a:pPr algn="just">
                <a:lnSpc>
                  <a:spcPts val="4055"/>
                </a:lnSpc>
              </a:pPr>
              <a:r>
                <a:rPr lang="en-US" sz="2896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Negligence or medical conditions like heart attacks can lead to dangerous falls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806664"/>
              <a:ext cx="722326" cy="615947"/>
            </a:xfrm>
            <a:custGeom>
              <a:avLst/>
              <a:gdLst/>
              <a:ahLst/>
              <a:cxnLst/>
              <a:rect r="r" b="b" t="t" l="l"/>
              <a:pathLst>
                <a:path h="615947" w="722326">
                  <a:moveTo>
                    <a:pt x="0" y="0"/>
                  </a:moveTo>
                  <a:lnTo>
                    <a:pt x="722326" y="0"/>
                  </a:lnTo>
                  <a:lnTo>
                    <a:pt x="722326" y="615947"/>
                  </a:lnTo>
                  <a:lnTo>
                    <a:pt x="0" y="61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3616411"/>
              <a:ext cx="722326" cy="615947"/>
            </a:xfrm>
            <a:custGeom>
              <a:avLst/>
              <a:gdLst/>
              <a:ahLst/>
              <a:cxnLst/>
              <a:rect r="r" b="b" t="t" l="l"/>
              <a:pathLst>
                <a:path h="615947" w="722326">
                  <a:moveTo>
                    <a:pt x="0" y="0"/>
                  </a:moveTo>
                  <a:lnTo>
                    <a:pt x="722326" y="0"/>
                  </a:lnTo>
                  <a:lnTo>
                    <a:pt x="722326" y="615947"/>
                  </a:lnTo>
                  <a:lnTo>
                    <a:pt x="0" y="61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0" y="573726"/>
            <a:ext cx="7192726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MORE DETAILS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64006" y="6838584"/>
            <a:ext cx="5316289" cy="2876270"/>
            <a:chOff x="0" y="0"/>
            <a:chExt cx="7088386" cy="38350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65890" y="0"/>
              <a:ext cx="637232" cy="916881"/>
            </a:xfrm>
            <a:custGeom>
              <a:avLst/>
              <a:gdLst/>
              <a:ahLst/>
              <a:cxnLst/>
              <a:rect r="r" b="b" t="t" l="l"/>
              <a:pathLst>
                <a:path h="916881" w="637232">
                  <a:moveTo>
                    <a:pt x="0" y="0"/>
                  </a:moveTo>
                  <a:lnTo>
                    <a:pt x="637233" y="0"/>
                  </a:lnTo>
                  <a:lnTo>
                    <a:pt x="637233" y="916881"/>
                  </a:lnTo>
                  <a:lnTo>
                    <a:pt x="0" y="916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88763"/>
              <a:ext cx="7088386" cy="3546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00"/>
                </a:lnSpc>
                <a:spcBef>
                  <a:spcPct val="0"/>
                </a:spcBef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Eq</a:t>
              </a: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uipped with Sensors</a:t>
              </a:r>
            </a:p>
            <a:p>
              <a:pPr algn="ctr">
                <a:lnSpc>
                  <a:spcPts val="2900"/>
                </a:lnSpc>
                <a:spcBef>
                  <a:spcPct val="0"/>
                </a:spcBef>
              </a:pPr>
            </a:p>
            <a:p>
              <a:pPr algn="just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Accelerometer &amp; Gyroscope</a:t>
              </a:r>
            </a:p>
            <a:p>
              <a:pPr algn="just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Emergency Contact System</a:t>
              </a:r>
            </a:p>
            <a:p>
              <a:pPr algn="just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PPG Sensor Integration</a:t>
              </a:r>
            </a:p>
            <a:p>
              <a:pPr algn="ctr">
                <a:lnSpc>
                  <a:spcPts val="29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37397" y="6886394"/>
            <a:ext cx="5621903" cy="2371906"/>
            <a:chOff x="0" y="0"/>
            <a:chExt cx="7495870" cy="31625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81175" y="0"/>
              <a:ext cx="673865" cy="969589"/>
            </a:xfrm>
            <a:custGeom>
              <a:avLst/>
              <a:gdLst/>
              <a:ahLst/>
              <a:cxnLst/>
              <a:rect r="r" b="b" t="t" l="l"/>
              <a:pathLst>
                <a:path h="969589" w="673865">
                  <a:moveTo>
                    <a:pt x="0" y="0"/>
                  </a:moveTo>
                  <a:lnTo>
                    <a:pt x="673865" y="0"/>
                  </a:lnTo>
                  <a:lnTo>
                    <a:pt x="673865" y="969589"/>
                  </a:lnTo>
                  <a:lnTo>
                    <a:pt x="0" y="969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302077"/>
              <a:ext cx="7495870" cy="2860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00"/>
                </a:lnSpc>
                <a:spcBef>
                  <a:spcPct val="0"/>
                </a:spcBef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Design for Elderly Users</a:t>
              </a:r>
            </a:p>
            <a:p>
              <a:pPr algn="ctr">
                <a:lnSpc>
                  <a:spcPts val="2900"/>
                </a:lnSpc>
                <a:spcBef>
                  <a:spcPct val="0"/>
                </a:spcBef>
              </a:pPr>
            </a:p>
            <a:p>
              <a:pPr algn="just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Secur</a:t>
              </a: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e Fit (dementia patients)</a:t>
              </a:r>
            </a:p>
            <a:p>
              <a:pPr algn="just" marL="626111" indent="-313055" lvl="1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34172"/>
                  </a:solidFill>
                  <a:latin typeface="Livvic"/>
                  <a:ea typeface="Livvic"/>
                  <a:cs typeface="Livvic"/>
                  <a:sym typeface="Livvic"/>
                </a:rPr>
                <a:t>Soft, Hypoallergenic Material</a:t>
              </a:r>
            </a:p>
            <a:p>
              <a:pPr algn="ctr">
                <a:lnSpc>
                  <a:spcPts val="29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F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8537" y="4619444"/>
            <a:ext cx="1677426" cy="1158441"/>
            <a:chOff x="0" y="0"/>
            <a:chExt cx="441791" cy="305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791" cy="305104"/>
            </a:xfrm>
            <a:custGeom>
              <a:avLst/>
              <a:gdLst/>
              <a:ahLst/>
              <a:cxnLst/>
              <a:rect r="r" b="b" t="t" l="l"/>
              <a:pathLst>
                <a:path h="305104" w="441791">
                  <a:moveTo>
                    <a:pt x="152552" y="0"/>
                  </a:moveTo>
                  <a:lnTo>
                    <a:pt x="289239" y="0"/>
                  </a:lnTo>
                  <a:cubicBezTo>
                    <a:pt x="373491" y="0"/>
                    <a:pt x="441791" y="68300"/>
                    <a:pt x="441791" y="152552"/>
                  </a:cubicBezTo>
                  <a:lnTo>
                    <a:pt x="441791" y="152552"/>
                  </a:lnTo>
                  <a:cubicBezTo>
                    <a:pt x="441791" y="236804"/>
                    <a:pt x="373491" y="305104"/>
                    <a:pt x="289239" y="305104"/>
                  </a:cubicBezTo>
                  <a:lnTo>
                    <a:pt x="152552" y="305104"/>
                  </a:lnTo>
                  <a:cubicBezTo>
                    <a:pt x="68300" y="305104"/>
                    <a:pt x="0" y="236804"/>
                    <a:pt x="0" y="152552"/>
                  </a:cubicBezTo>
                  <a:lnTo>
                    <a:pt x="0" y="152552"/>
                  </a:lnTo>
                  <a:cubicBezTo>
                    <a:pt x="0" y="68300"/>
                    <a:pt x="68300" y="0"/>
                    <a:pt x="152552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41791" cy="25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START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93695" y="4619444"/>
            <a:ext cx="1677426" cy="1158441"/>
            <a:chOff x="0" y="0"/>
            <a:chExt cx="441791" cy="305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791" cy="305104"/>
            </a:xfrm>
            <a:custGeom>
              <a:avLst/>
              <a:gdLst/>
              <a:ahLst/>
              <a:cxnLst/>
              <a:rect r="r" b="b" t="t" l="l"/>
              <a:pathLst>
                <a:path h="305104" w="441791">
                  <a:moveTo>
                    <a:pt x="152552" y="0"/>
                  </a:moveTo>
                  <a:lnTo>
                    <a:pt x="289239" y="0"/>
                  </a:lnTo>
                  <a:cubicBezTo>
                    <a:pt x="373491" y="0"/>
                    <a:pt x="441791" y="68300"/>
                    <a:pt x="441791" y="152552"/>
                  </a:cubicBezTo>
                  <a:lnTo>
                    <a:pt x="441791" y="152552"/>
                  </a:lnTo>
                  <a:cubicBezTo>
                    <a:pt x="441791" y="236804"/>
                    <a:pt x="373491" y="305104"/>
                    <a:pt x="289239" y="305104"/>
                  </a:cubicBezTo>
                  <a:lnTo>
                    <a:pt x="152552" y="305104"/>
                  </a:lnTo>
                  <a:cubicBezTo>
                    <a:pt x="68300" y="305104"/>
                    <a:pt x="0" y="236804"/>
                    <a:pt x="0" y="152552"/>
                  </a:cubicBezTo>
                  <a:lnTo>
                    <a:pt x="0" y="152552"/>
                  </a:lnTo>
                  <a:cubicBezTo>
                    <a:pt x="0" y="68300"/>
                    <a:pt x="68300" y="0"/>
                    <a:pt x="152552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441791" cy="25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GET BIO SIGNAL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85496" y="4583067"/>
            <a:ext cx="1972600" cy="1231196"/>
            <a:chOff x="0" y="0"/>
            <a:chExt cx="519532" cy="3242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9532" cy="324266"/>
            </a:xfrm>
            <a:custGeom>
              <a:avLst/>
              <a:gdLst/>
              <a:ahLst/>
              <a:cxnLst/>
              <a:rect r="r" b="b" t="t" l="l"/>
              <a:pathLst>
                <a:path h="324266" w="519532">
                  <a:moveTo>
                    <a:pt x="162133" y="0"/>
                  </a:moveTo>
                  <a:lnTo>
                    <a:pt x="357400" y="0"/>
                  </a:lnTo>
                  <a:cubicBezTo>
                    <a:pt x="400400" y="0"/>
                    <a:pt x="441639" y="17082"/>
                    <a:pt x="472045" y="47488"/>
                  </a:cubicBezTo>
                  <a:cubicBezTo>
                    <a:pt x="502451" y="77893"/>
                    <a:pt x="519532" y="119133"/>
                    <a:pt x="519532" y="162133"/>
                  </a:cubicBezTo>
                  <a:lnTo>
                    <a:pt x="519532" y="162133"/>
                  </a:lnTo>
                  <a:cubicBezTo>
                    <a:pt x="519532" y="205133"/>
                    <a:pt x="502451" y="246372"/>
                    <a:pt x="472045" y="276778"/>
                  </a:cubicBezTo>
                  <a:cubicBezTo>
                    <a:pt x="441639" y="307184"/>
                    <a:pt x="400400" y="324266"/>
                    <a:pt x="357400" y="324266"/>
                  </a:cubicBezTo>
                  <a:lnTo>
                    <a:pt x="162133" y="324266"/>
                  </a:lnTo>
                  <a:cubicBezTo>
                    <a:pt x="119133" y="324266"/>
                    <a:pt x="77893" y="307184"/>
                    <a:pt x="47488" y="276778"/>
                  </a:cubicBezTo>
                  <a:cubicBezTo>
                    <a:pt x="17082" y="246372"/>
                    <a:pt x="0" y="205133"/>
                    <a:pt x="0" y="162133"/>
                  </a:cubicBezTo>
                  <a:lnTo>
                    <a:pt x="0" y="162133"/>
                  </a:lnTo>
                  <a:cubicBezTo>
                    <a:pt x="0" y="119133"/>
                    <a:pt x="17082" y="77893"/>
                    <a:pt x="47488" y="47488"/>
                  </a:cubicBezTo>
                  <a:cubicBezTo>
                    <a:pt x="77893" y="17082"/>
                    <a:pt x="119133" y="0"/>
                    <a:pt x="162133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519532" cy="27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UC PROCESSES THE DATA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66374" y="1775167"/>
            <a:ext cx="1677426" cy="1231196"/>
            <a:chOff x="0" y="0"/>
            <a:chExt cx="441791" cy="3242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791" cy="324266"/>
            </a:xfrm>
            <a:custGeom>
              <a:avLst/>
              <a:gdLst/>
              <a:ahLst/>
              <a:cxnLst/>
              <a:rect r="r" b="b" t="t" l="l"/>
              <a:pathLst>
                <a:path h="324266" w="441791">
                  <a:moveTo>
                    <a:pt x="162133" y="0"/>
                  </a:moveTo>
                  <a:lnTo>
                    <a:pt x="279658" y="0"/>
                  </a:lnTo>
                  <a:cubicBezTo>
                    <a:pt x="322659" y="0"/>
                    <a:pt x="363898" y="17082"/>
                    <a:pt x="394304" y="47488"/>
                  </a:cubicBezTo>
                  <a:cubicBezTo>
                    <a:pt x="424709" y="77893"/>
                    <a:pt x="441791" y="119133"/>
                    <a:pt x="441791" y="162133"/>
                  </a:cubicBezTo>
                  <a:lnTo>
                    <a:pt x="441791" y="162133"/>
                  </a:lnTo>
                  <a:cubicBezTo>
                    <a:pt x="441791" y="205133"/>
                    <a:pt x="424709" y="246372"/>
                    <a:pt x="394304" y="276778"/>
                  </a:cubicBezTo>
                  <a:cubicBezTo>
                    <a:pt x="363898" y="307184"/>
                    <a:pt x="322659" y="324266"/>
                    <a:pt x="279658" y="324266"/>
                  </a:cubicBezTo>
                  <a:lnTo>
                    <a:pt x="162133" y="324266"/>
                  </a:lnTo>
                  <a:cubicBezTo>
                    <a:pt x="119133" y="324266"/>
                    <a:pt x="77893" y="307184"/>
                    <a:pt x="47488" y="276778"/>
                  </a:cubicBezTo>
                  <a:cubicBezTo>
                    <a:pt x="17082" y="246372"/>
                    <a:pt x="0" y="205133"/>
                    <a:pt x="0" y="162133"/>
                  </a:cubicBezTo>
                  <a:lnTo>
                    <a:pt x="0" y="162133"/>
                  </a:lnTo>
                  <a:cubicBezTo>
                    <a:pt x="0" y="119133"/>
                    <a:pt x="17082" y="77893"/>
                    <a:pt x="47488" y="47488"/>
                  </a:cubicBezTo>
                  <a:cubicBezTo>
                    <a:pt x="77893" y="17082"/>
                    <a:pt x="119133" y="0"/>
                    <a:pt x="162133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441791" cy="27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HEART BEAT ALARM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50398" y="4546689"/>
            <a:ext cx="2740482" cy="1231196"/>
            <a:chOff x="0" y="0"/>
            <a:chExt cx="721773" cy="3242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1773" cy="324266"/>
            </a:xfrm>
            <a:custGeom>
              <a:avLst/>
              <a:gdLst/>
              <a:ahLst/>
              <a:cxnLst/>
              <a:rect r="r" b="b" t="t" l="l"/>
              <a:pathLst>
                <a:path h="324266" w="721773">
                  <a:moveTo>
                    <a:pt x="144076" y="0"/>
                  </a:moveTo>
                  <a:lnTo>
                    <a:pt x="577697" y="0"/>
                  </a:lnTo>
                  <a:cubicBezTo>
                    <a:pt x="615908" y="0"/>
                    <a:pt x="652555" y="15179"/>
                    <a:pt x="679574" y="42199"/>
                  </a:cubicBezTo>
                  <a:cubicBezTo>
                    <a:pt x="706594" y="69218"/>
                    <a:pt x="721773" y="105865"/>
                    <a:pt x="721773" y="144076"/>
                  </a:cubicBezTo>
                  <a:lnTo>
                    <a:pt x="721773" y="180190"/>
                  </a:lnTo>
                  <a:cubicBezTo>
                    <a:pt x="721773" y="259761"/>
                    <a:pt x="657268" y="324266"/>
                    <a:pt x="577697" y="324266"/>
                  </a:cubicBezTo>
                  <a:lnTo>
                    <a:pt x="144076" y="324266"/>
                  </a:lnTo>
                  <a:cubicBezTo>
                    <a:pt x="64505" y="324266"/>
                    <a:pt x="0" y="259761"/>
                    <a:pt x="0" y="180190"/>
                  </a:cubicBezTo>
                  <a:lnTo>
                    <a:pt x="0" y="144076"/>
                  </a:lnTo>
                  <a:cubicBezTo>
                    <a:pt x="0" y="64505"/>
                    <a:pt x="64505" y="0"/>
                    <a:pt x="144076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721773" cy="27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UPDATE AND MONITOR CONTINUOUSLY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74966" y="4546689"/>
            <a:ext cx="1677426" cy="1158441"/>
            <a:chOff x="0" y="0"/>
            <a:chExt cx="441791" cy="305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1791" cy="305104"/>
            </a:xfrm>
            <a:custGeom>
              <a:avLst/>
              <a:gdLst/>
              <a:ahLst/>
              <a:cxnLst/>
              <a:rect r="r" b="b" t="t" l="l"/>
              <a:pathLst>
                <a:path h="305104" w="441791">
                  <a:moveTo>
                    <a:pt x="152552" y="0"/>
                  </a:moveTo>
                  <a:lnTo>
                    <a:pt x="289239" y="0"/>
                  </a:lnTo>
                  <a:cubicBezTo>
                    <a:pt x="373491" y="0"/>
                    <a:pt x="441791" y="68300"/>
                    <a:pt x="441791" y="152552"/>
                  </a:cubicBezTo>
                  <a:lnTo>
                    <a:pt x="441791" y="152552"/>
                  </a:lnTo>
                  <a:cubicBezTo>
                    <a:pt x="441791" y="236804"/>
                    <a:pt x="373491" y="305104"/>
                    <a:pt x="289239" y="305104"/>
                  </a:cubicBezTo>
                  <a:lnTo>
                    <a:pt x="152552" y="305104"/>
                  </a:lnTo>
                  <a:cubicBezTo>
                    <a:pt x="68300" y="305104"/>
                    <a:pt x="0" y="236804"/>
                    <a:pt x="0" y="152552"/>
                  </a:cubicBezTo>
                  <a:lnTo>
                    <a:pt x="0" y="152552"/>
                  </a:lnTo>
                  <a:cubicBezTo>
                    <a:pt x="0" y="68300"/>
                    <a:pt x="68300" y="0"/>
                    <a:pt x="152552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441791" cy="25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REPEAT PROCESS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66374" y="7353392"/>
            <a:ext cx="1677426" cy="1158441"/>
            <a:chOff x="0" y="0"/>
            <a:chExt cx="441791" cy="3051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1791" cy="305104"/>
            </a:xfrm>
            <a:custGeom>
              <a:avLst/>
              <a:gdLst/>
              <a:ahLst/>
              <a:cxnLst/>
              <a:rect r="r" b="b" t="t" l="l"/>
              <a:pathLst>
                <a:path h="305104" w="441791">
                  <a:moveTo>
                    <a:pt x="152552" y="0"/>
                  </a:moveTo>
                  <a:lnTo>
                    <a:pt x="289239" y="0"/>
                  </a:lnTo>
                  <a:cubicBezTo>
                    <a:pt x="373491" y="0"/>
                    <a:pt x="441791" y="68300"/>
                    <a:pt x="441791" y="152552"/>
                  </a:cubicBezTo>
                  <a:lnTo>
                    <a:pt x="441791" y="152552"/>
                  </a:lnTo>
                  <a:cubicBezTo>
                    <a:pt x="441791" y="236804"/>
                    <a:pt x="373491" y="305104"/>
                    <a:pt x="289239" y="305104"/>
                  </a:cubicBezTo>
                  <a:lnTo>
                    <a:pt x="152552" y="305104"/>
                  </a:lnTo>
                  <a:cubicBezTo>
                    <a:pt x="68300" y="305104"/>
                    <a:pt x="0" y="236804"/>
                    <a:pt x="0" y="152552"/>
                  </a:cubicBezTo>
                  <a:lnTo>
                    <a:pt x="0" y="152552"/>
                  </a:lnTo>
                  <a:cubicBezTo>
                    <a:pt x="0" y="68300"/>
                    <a:pt x="68300" y="0"/>
                    <a:pt x="152552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441791" cy="25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FALL ALARM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2619212" y="5217715"/>
            <a:ext cx="4312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5013996" y="5236765"/>
            <a:ext cx="4312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14917305" y="5179615"/>
            <a:ext cx="4312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7853078" y="5255815"/>
            <a:ext cx="35639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7262922" y="6746352"/>
            <a:ext cx="1253588" cy="8711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7274672" y="2860278"/>
            <a:ext cx="1253588" cy="982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5670016" y="7483133"/>
            <a:ext cx="3178567" cy="2057400"/>
          </a:xfrm>
          <a:custGeom>
            <a:avLst/>
            <a:gdLst/>
            <a:ahLst/>
            <a:cxnLst/>
            <a:rect r="r" b="b" t="t" l="l"/>
            <a:pathLst>
              <a:path h="2057400" w="3178567">
                <a:moveTo>
                  <a:pt x="0" y="0"/>
                </a:moveTo>
                <a:lnTo>
                  <a:pt x="3178568" y="0"/>
                </a:lnTo>
                <a:lnTo>
                  <a:pt x="317856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17305" y="8714147"/>
            <a:ext cx="4532919" cy="2802168"/>
          </a:xfrm>
          <a:custGeom>
            <a:avLst/>
            <a:gdLst/>
            <a:ahLst/>
            <a:cxnLst/>
            <a:rect r="r" b="b" t="t" l="l"/>
            <a:pathLst>
              <a:path h="2802168" w="4532919">
                <a:moveTo>
                  <a:pt x="0" y="0"/>
                </a:moveTo>
                <a:lnTo>
                  <a:pt x="4532920" y="0"/>
                </a:lnTo>
                <a:lnTo>
                  <a:pt x="4532920" y="2802168"/>
                </a:lnTo>
                <a:lnTo>
                  <a:pt x="0" y="2802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98537" y="771312"/>
            <a:ext cx="12066392" cy="97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PROCESS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713700" y="7353392"/>
            <a:ext cx="1677426" cy="1158441"/>
            <a:chOff x="0" y="0"/>
            <a:chExt cx="441791" cy="3051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1791" cy="305104"/>
            </a:xfrm>
            <a:custGeom>
              <a:avLst/>
              <a:gdLst/>
              <a:ahLst/>
              <a:cxnLst/>
              <a:rect r="r" b="b" t="t" l="l"/>
              <a:pathLst>
                <a:path h="305104" w="441791">
                  <a:moveTo>
                    <a:pt x="152552" y="0"/>
                  </a:moveTo>
                  <a:lnTo>
                    <a:pt x="289239" y="0"/>
                  </a:lnTo>
                  <a:cubicBezTo>
                    <a:pt x="373491" y="0"/>
                    <a:pt x="441791" y="68300"/>
                    <a:pt x="441791" y="152552"/>
                  </a:cubicBezTo>
                  <a:lnTo>
                    <a:pt x="441791" y="152552"/>
                  </a:lnTo>
                  <a:cubicBezTo>
                    <a:pt x="441791" y="236804"/>
                    <a:pt x="373491" y="305104"/>
                    <a:pt x="289239" y="305104"/>
                  </a:cubicBezTo>
                  <a:lnTo>
                    <a:pt x="152552" y="305104"/>
                  </a:lnTo>
                  <a:cubicBezTo>
                    <a:pt x="68300" y="305104"/>
                    <a:pt x="0" y="236804"/>
                    <a:pt x="0" y="152552"/>
                  </a:cubicBezTo>
                  <a:lnTo>
                    <a:pt x="0" y="152552"/>
                  </a:lnTo>
                  <a:cubicBezTo>
                    <a:pt x="0" y="68300"/>
                    <a:pt x="68300" y="0"/>
                    <a:pt x="152552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47625"/>
              <a:ext cx="441791" cy="25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  <a:r>
                <a:rPr lang="en-US" b="true" sz="2544">
                  <a:solidFill>
                    <a:srgbClr val="000000"/>
                  </a:solidFill>
                  <a:latin typeface="Livvic Bold"/>
                  <a:ea typeface="Livvic Bold"/>
                  <a:cs typeface="Livvic Bold"/>
                  <a:sym typeface="Livvic Bold"/>
                </a:rPr>
                <a:t>BUZZER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0963133" y="7951663"/>
            <a:ext cx="4312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1394367" y="3006363"/>
            <a:ext cx="1470562" cy="10749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 flipV="true">
            <a:off x="12571463" y="6280170"/>
            <a:ext cx="293466" cy="5466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D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19963" y="373344"/>
            <a:ext cx="3882875" cy="4114800"/>
          </a:xfrm>
          <a:custGeom>
            <a:avLst/>
            <a:gdLst/>
            <a:ahLst/>
            <a:cxnLst/>
            <a:rect r="r" b="b" t="t" l="l"/>
            <a:pathLst>
              <a:path h="4114800" w="3882875">
                <a:moveTo>
                  <a:pt x="0" y="0"/>
                </a:moveTo>
                <a:lnTo>
                  <a:pt x="3882874" y="0"/>
                </a:lnTo>
                <a:lnTo>
                  <a:pt x="3882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4471" y="6042191"/>
            <a:ext cx="5066784" cy="3681493"/>
          </a:xfrm>
          <a:custGeom>
            <a:avLst/>
            <a:gdLst/>
            <a:ahLst/>
            <a:cxnLst/>
            <a:rect r="r" b="b" t="t" l="l"/>
            <a:pathLst>
              <a:path h="3681493" w="5066784">
                <a:moveTo>
                  <a:pt x="0" y="0"/>
                </a:moveTo>
                <a:lnTo>
                  <a:pt x="5066783" y="0"/>
                </a:lnTo>
                <a:lnTo>
                  <a:pt x="5066783" y="3681493"/>
                </a:lnTo>
                <a:lnTo>
                  <a:pt x="0" y="3681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736" t="0" r="-1373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874" y="944880"/>
            <a:ext cx="7619036" cy="186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PROJECT</a:t>
            </a:r>
          </a:p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MANAGEMENT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7727" y="4430994"/>
            <a:ext cx="3055665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Trello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Gantt Chart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Canva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170551" y="3371007"/>
            <a:ext cx="4511931" cy="4511931"/>
            <a:chOff x="0" y="0"/>
            <a:chExt cx="8909050" cy="890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210012" y="2402"/>
              <a:ext cx="9329074" cy="8904246"/>
            </a:xfrm>
            <a:custGeom>
              <a:avLst/>
              <a:gdLst/>
              <a:ahLst/>
              <a:cxnLst/>
              <a:rect r="r" b="b" t="t" l="l"/>
              <a:pathLst>
                <a:path h="8904246" w="9329074">
                  <a:moveTo>
                    <a:pt x="4664537" y="7123"/>
                  </a:moveTo>
                  <a:cubicBezTo>
                    <a:pt x="3071756" y="0"/>
                    <a:pt x="1596908" y="845651"/>
                    <a:pt x="798454" y="2223865"/>
                  </a:cubicBezTo>
                  <a:cubicBezTo>
                    <a:pt x="0" y="3602079"/>
                    <a:pt x="0" y="5302167"/>
                    <a:pt x="798454" y="6680382"/>
                  </a:cubicBezTo>
                  <a:cubicBezTo>
                    <a:pt x="1596908" y="8058595"/>
                    <a:pt x="3071756" y="8904246"/>
                    <a:pt x="4664537" y="8897123"/>
                  </a:cubicBezTo>
                  <a:cubicBezTo>
                    <a:pt x="6257318" y="8904246"/>
                    <a:pt x="7732166" y="8058595"/>
                    <a:pt x="8530620" y="6680382"/>
                  </a:cubicBezTo>
                  <a:cubicBezTo>
                    <a:pt x="9329074" y="5302167"/>
                    <a:pt x="9329074" y="3602079"/>
                    <a:pt x="8530620" y="2223865"/>
                  </a:cubicBezTo>
                  <a:cubicBezTo>
                    <a:pt x="7732166" y="845651"/>
                    <a:pt x="6257318" y="0"/>
                    <a:pt x="4664537" y="7123"/>
                  </a:cubicBezTo>
                  <a:close/>
                </a:path>
              </a:pathLst>
            </a:custGeom>
            <a:solidFill>
              <a:srgbClr val="03417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63" y="263805"/>
              <a:ext cx="8781323" cy="8381440"/>
            </a:xfrm>
            <a:custGeom>
              <a:avLst/>
              <a:gdLst/>
              <a:ahLst/>
              <a:cxnLst/>
              <a:rect r="r" b="b" t="t" l="l"/>
              <a:pathLst>
                <a:path h="8381440" w="8781323">
                  <a:moveTo>
                    <a:pt x="4390662" y="6705"/>
                  </a:moveTo>
                  <a:cubicBezTo>
                    <a:pt x="2891400" y="0"/>
                    <a:pt x="1503147" y="795999"/>
                    <a:pt x="751573" y="2093292"/>
                  </a:cubicBezTo>
                  <a:cubicBezTo>
                    <a:pt x="0" y="3390586"/>
                    <a:pt x="0" y="4990854"/>
                    <a:pt x="751573" y="6288148"/>
                  </a:cubicBezTo>
                  <a:cubicBezTo>
                    <a:pt x="1503147" y="7585441"/>
                    <a:pt x="2891400" y="8381440"/>
                    <a:pt x="4390662" y="8374735"/>
                  </a:cubicBezTo>
                  <a:cubicBezTo>
                    <a:pt x="5889924" y="8381440"/>
                    <a:pt x="7278177" y="7585441"/>
                    <a:pt x="8029751" y="6288148"/>
                  </a:cubicBezTo>
                  <a:cubicBezTo>
                    <a:pt x="8781323" y="4990854"/>
                    <a:pt x="8781323" y="3390586"/>
                    <a:pt x="8029751" y="2093292"/>
                  </a:cubicBezTo>
                  <a:cubicBezTo>
                    <a:pt x="7278177" y="795999"/>
                    <a:pt x="5889924" y="0"/>
                    <a:pt x="4390662" y="6705"/>
                  </a:cubicBezTo>
                  <a:close/>
                </a:path>
              </a:pathLst>
            </a:custGeom>
            <a:blipFill>
              <a:blip r:embed="rId5"/>
              <a:stretch>
                <a:fillRect l="-18507" t="0" r="-18507" b="-64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F4CE1D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F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54869" y="388373"/>
            <a:ext cx="6537163" cy="4755127"/>
          </a:xfrm>
          <a:custGeom>
            <a:avLst/>
            <a:gdLst/>
            <a:ahLst/>
            <a:cxnLst/>
            <a:rect r="r" b="b" t="t" l="l"/>
            <a:pathLst>
              <a:path h="4755127" w="6537163">
                <a:moveTo>
                  <a:pt x="0" y="0"/>
                </a:moveTo>
                <a:lnTo>
                  <a:pt x="6537163" y="0"/>
                </a:lnTo>
                <a:lnTo>
                  <a:pt x="6537163" y="4755127"/>
                </a:lnTo>
                <a:lnTo>
                  <a:pt x="0" y="475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726" y="3326640"/>
            <a:ext cx="5286919" cy="6467179"/>
          </a:xfrm>
          <a:custGeom>
            <a:avLst/>
            <a:gdLst/>
            <a:ahLst/>
            <a:cxnLst/>
            <a:rect r="r" b="b" t="t" l="l"/>
            <a:pathLst>
              <a:path h="6467179" w="5286919">
                <a:moveTo>
                  <a:pt x="0" y="0"/>
                </a:moveTo>
                <a:lnTo>
                  <a:pt x="5286919" y="0"/>
                </a:lnTo>
                <a:lnTo>
                  <a:pt x="5286919" y="6467180"/>
                </a:lnTo>
                <a:lnTo>
                  <a:pt x="0" y="6467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73919" y="6014853"/>
            <a:ext cx="5097922" cy="377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Arduino MKR 1010 Wifi</a:t>
            </a:r>
          </a:p>
          <a:p>
            <a:pPr algn="ctr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GY-521 </a:t>
            </a:r>
          </a:p>
          <a:p>
            <a:pPr algn="ctr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DFRobot MX30102</a:t>
            </a:r>
          </a:p>
          <a:p>
            <a:pPr algn="ctr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5V buzzer</a:t>
            </a:r>
          </a:p>
          <a:p>
            <a:pPr algn="ctr">
              <a:lnSpc>
                <a:spcPts val="4335"/>
              </a:lnSpc>
            </a:pPr>
          </a:p>
          <a:p>
            <a:pPr algn="ctr">
              <a:lnSpc>
                <a:spcPts val="4335"/>
              </a:lnSpc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Blynk IoT</a:t>
            </a:r>
          </a:p>
          <a:p>
            <a:pPr algn="ctr" marL="0" indent="0" lvl="0">
              <a:lnSpc>
                <a:spcPts val="433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08821" y="618331"/>
            <a:ext cx="10303649" cy="186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TECHNICAL</a:t>
            </a:r>
          </a:p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 SIDE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35335" y="6914390"/>
            <a:ext cx="4657901" cy="2879430"/>
          </a:xfrm>
          <a:custGeom>
            <a:avLst/>
            <a:gdLst/>
            <a:ahLst/>
            <a:cxnLst/>
            <a:rect r="r" b="b" t="t" l="l"/>
            <a:pathLst>
              <a:path h="2879430" w="4657901">
                <a:moveTo>
                  <a:pt x="0" y="0"/>
                </a:moveTo>
                <a:lnTo>
                  <a:pt x="4657901" y="0"/>
                </a:lnTo>
                <a:lnTo>
                  <a:pt x="4657901" y="2879430"/>
                </a:lnTo>
                <a:lnTo>
                  <a:pt x="0" y="2879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D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9295" y="3184795"/>
            <a:ext cx="16129411" cy="363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Lowering  the Power Consumption</a:t>
            </a:r>
          </a:p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More User-Friendly Interface</a:t>
            </a:r>
          </a:p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Sim card reader</a:t>
            </a:r>
          </a:p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Off button in the case of a false alarm</a:t>
            </a:r>
          </a:p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MQTT</a:t>
            </a:r>
          </a:p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Add Other Sensors to make it a functional 360-degree health solution</a:t>
            </a:r>
          </a:p>
          <a:p>
            <a:pPr algn="l" marL="603634" indent="-301817" lvl="1">
              <a:lnSpc>
                <a:spcPts val="4193"/>
              </a:lnSpc>
              <a:buFont typeface="Arial"/>
              <a:buChar char="•"/>
            </a:pPr>
            <a:r>
              <a:rPr lang="en-US" sz="2795" spc="335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Comfortable design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132840" y="574021"/>
            <a:ext cx="2446948" cy="2494070"/>
          </a:xfrm>
          <a:custGeom>
            <a:avLst/>
            <a:gdLst/>
            <a:ahLst/>
            <a:cxnLst/>
            <a:rect r="r" b="b" t="t" l="l"/>
            <a:pathLst>
              <a:path h="2494070" w="2446948">
                <a:moveTo>
                  <a:pt x="0" y="0"/>
                </a:moveTo>
                <a:lnTo>
                  <a:pt x="2446948" y="0"/>
                </a:lnTo>
                <a:lnTo>
                  <a:pt x="2446948" y="2494069"/>
                </a:lnTo>
                <a:lnTo>
                  <a:pt x="0" y="249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9889" y="7014501"/>
            <a:ext cx="3311120" cy="2600735"/>
          </a:xfrm>
          <a:custGeom>
            <a:avLst/>
            <a:gdLst/>
            <a:ahLst/>
            <a:cxnLst/>
            <a:rect r="r" b="b" t="t" l="l"/>
            <a:pathLst>
              <a:path h="2600735" w="3311120">
                <a:moveTo>
                  <a:pt x="0" y="0"/>
                </a:moveTo>
                <a:lnTo>
                  <a:pt x="3311121" y="0"/>
                </a:lnTo>
                <a:lnTo>
                  <a:pt x="3311121" y="2600735"/>
                </a:lnTo>
                <a:lnTo>
                  <a:pt x="0" y="260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52525"/>
            <a:ext cx="9104140" cy="19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7000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SCOPE OF IMPROVEMENTS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441010" y="7014501"/>
            <a:ext cx="3311120" cy="2600735"/>
          </a:xfrm>
          <a:custGeom>
            <a:avLst/>
            <a:gdLst/>
            <a:ahLst/>
            <a:cxnLst/>
            <a:rect r="r" b="b" t="t" l="l"/>
            <a:pathLst>
              <a:path h="2600735" w="3311120">
                <a:moveTo>
                  <a:pt x="0" y="0"/>
                </a:moveTo>
                <a:lnTo>
                  <a:pt x="3311120" y="0"/>
                </a:lnTo>
                <a:lnTo>
                  <a:pt x="3311120" y="2600735"/>
                </a:lnTo>
                <a:lnTo>
                  <a:pt x="0" y="260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52130" y="7014501"/>
            <a:ext cx="3311120" cy="2600735"/>
          </a:xfrm>
          <a:custGeom>
            <a:avLst/>
            <a:gdLst/>
            <a:ahLst/>
            <a:cxnLst/>
            <a:rect r="r" b="b" t="t" l="l"/>
            <a:pathLst>
              <a:path h="2600735" w="3311120">
                <a:moveTo>
                  <a:pt x="0" y="0"/>
                </a:moveTo>
                <a:lnTo>
                  <a:pt x="3311121" y="0"/>
                </a:lnTo>
                <a:lnTo>
                  <a:pt x="3311121" y="2600735"/>
                </a:lnTo>
                <a:lnTo>
                  <a:pt x="0" y="260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63251" y="7014501"/>
            <a:ext cx="3311120" cy="2600735"/>
          </a:xfrm>
          <a:custGeom>
            <a:avLst/>
            <a:gdLst/>
            <a:ahLst/>
            <a:cxnLst/>
            <a:rect r="r" b="b" t="t" l="l"/>
            <a:pathLst>
              <a:path h="2600735" w="3311120">
                <a:moveTo>
                  <a:pt x="0" y="0"/>
                </a:moveTo>
                <a:lnTo>
                  <a:pt x="3311120" y="0"/>
                </a:lnTo>
                <a:lnTo>
                  <a:pt x="3311120" y="2600735"/>
                </a:lnTo>
                <a:lnTo>
                  <a:pt x="0" y="260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74371" y="7014501"/>
            <a:ext cx="3311120" cy="2600735"/>
          </a:xfrm>
          <a:custGeom>
            <a:avLst/>
            <a:gdLst/>
            <a:ahLst/>
            <a:cxnLst/>
            <a:rect r="r" b="b" t="t" l="l"/>
            <a:pathLst>
              <a:path h="2600735" w="3311120">
                <a:moveTo>
                  <a:pt x="0" y="0"/>
                </a:moveTo>
                <a:lnTo>
                  <a:pt x="3311121" y="0"/>
                </a:lnTo>
                <a:lnTo>
                  <a:pt x="3311121" y="2600735"/>
                </a:lnTo>
                <a:lnTo>
                  <a:pt x="0" y="260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F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7275" y="2562753"/>
            <a:ext cx="1924340" cy="2015641"/>
          </a:xfrm>
          <a:custGeom>
            <a:avLst/>
            <a:gdLst/>
            <a:ahLst/>
            <a:cxnLst/>
            <a:rect r="r" b="b" t="t" l="l"/>
            <a:pathLst>
              <a:path h="2015641" w="1924340">
                <a:moveTo>
                  <a:pt x="0" y="0"/>
                </a:moveTo>
                <a:lnTo>
                  <a:pt x="1924340" y="0"/>
                </a:lnTo>
                <a:lnTo>
                  <a:pt x="1924340" y="2015641"/>
                </a:lnTo>
                <a:lnTo>
                  <a:pt x="0" y="20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5784" y="2752276"/>
            <a:ext cx="1826118" cy="1826118"/>
          </a:xfrm>
          <a:custGeom>
            <a:avLst/>
            <a:gdLst/>
            <a:ahLst/>
            <a:cxnLst/>
            <a:rect r="r" b="b" t="t" l="l"/>
            <a:pathLst>
              <a:path h="1826118" w="1826118">
                <a:moveTo>
                  <a:pt x="0" y="0"/>
                </a:moveTo>
                <a:lnTo>
                  <a:pt x="1826118" y="0"/>
                </a:lnTo>
                <a:lnTo>
                  <a:pt x="1826118" y="1826118"/>
                </a:lnTo>
                <a:lnTo>
                  <a:pt x="0" y="1826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34250" y="2657515"/>
            <a:ext cx="1801654" cy="1845269"/>
          </a:xfrm>
          <a:custGeom>
            <a:avLst/>
            <a:gdLst/>
            <a:ahLst/>
            <a:cxnLst/>
            <a:rect r="r" b="b" t="t" l="l"/>
            <a:pathLst>
              <a:path h="1845269" w="1801654">
                <a:moveTo>
                  <a:pt x="0" y="0"/>
                </a:moveTo>
                <a:lnTo>
                  <a:pt x="1801654" y="0"/>
                </a:lnTo>
                <a:lnTo>
                  <a:pt x="1801654" y="1845269"/>
                </a:lnTo>
                <a:lnTo>
                  <a:pt x="0" y="18452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5228" y="2779648"/>
            <a:ext cx="1926269" cy="1723135"/>
          </a:xfrm>
          <a:custGeom>
            <a:avLst/>
            <a:gdLst/>
            <a:ahLst/>
            <a:cxnLst/>
            <a:rect r="r" b="b" t="t" l="l"/>
            <a:pathLst>
              <a:path h="1723135" w="1926269">
                <a:moveTo>
                  <a:pt x="0" y="0"/>
                </a:moveTo>
                <a:lnTo>
                  <a:pt x="1926269" y="0"/>
                </a:lnTo>
                <a:lnTo>
                  <a:pt x="1926269" y="1723136"/>
                </a:lnTo>
                <a:lnTo>
                  <a:pt x="0" y="1723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80343" y="6548156"/>
            <a:ext cx="1862695" cy="1734635"/>
          </a:xfrm>
          <a:custGeom>
            <a:avLst/>
            <a:gdLst/>
            <a:ahLst/>
            <a:cxnLst/>
            <a:rect r="r" b="b" t="t" l="l"/>
            <a:pathLst>
              <a:path h="1734635" w="1862695">
                <a:moveTo>
                  <a:pt x="0" y="0"/>
                </a:moveTo>
                <a:lnTo>
                  <a:pt x="1862695" y="0"/>
                </a:lnTo>
                <a:lnTo>
                  <a:pt x="1862695" y="1734635"/>
                </a:lnTo>
                <a:lnTo>
                  <a:pt x="0" y="1734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94553" y="6235849"/>
            <a:ext cx="1006657" cy="2075581"/>
          </a:xfrm>
          <a:custGeom>
            <a:avLst/>
            <a:gdLst/>
            <a:ahLst/>
            <a:cxnLst/>
            <a:rect r="r" b="b" t="t" l="l"/>
            <a:pathLst>
              <a:path h="2075581" w="1006657">
                <a:moveTo>
                  <a:pt x="0" y="0"/>
                </a:moveTo>
                <a:lnTo>
                  <a:pt x="1006657" y="0"/>
                </a:lnTo>
                <a:lnTo>
                  <a:pt x="1006657" y="2075581"/>
                </a:lnTo>
                <a:lnTo>
                  <a:pt x="0" y="20755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45684" y="6153150"/>
            <a:ext cx="1510198" cy="2524647"/>
          </a:xfrm>
          <a:custGeom>
            <a:avLst/>
            <a:gdLst/>
            <a:ahLst/>
            <a:cxnLst/>
            <a:rect r="r" b="b" t="t" l="l"/>
            <a:pathLst>
              <a:path h="2524647" w="1510198">
                <a:moveTo>
                  <a:pt x="0" y="0"/>
                </a:moveTo>
                <a:lnTo>
                  <a:pt x="1510198" y="0"/>
                </a:lnTo>
                <a:lnTo>
                  <a:pt x="1510198" y="2524647"/>
                </a:lnTo>
                <a:lnTo>
                  <a:pt x="0" y="2524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82929" y="6153150"/>
            <a:ext cx="991591" cy="2240979"/>
          </a:xfrm>
          <a:custGeom>
            <a:avLst/>
            <a:gdLst/>
            <a:ahLst/>
            <a:cxnLst/>
            <a:rect r="r" b="b" t="t" l="l"/>
            <a:pathLst>
              <a:path h="2240979" w="991591">
                <a:moveTo>
                  <a:pt x="0" y="0"/>
                </a:moveTo>
                <a:lnTo>
                  <a:pt x="991591" y="0"/>
                </a:lnTo>
                <a:lnTo>
                  <a:pt x="991591" y="2240979"/>
                </a:lnTo>
                <a:lnTo>
                  <a:pt x="0" y="2240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49629" y="786071"/>
            <a:ext cx="1438874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WHAT DID WE LEARN?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662088"/>
            <a:ext cx="5559418" cy="48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Project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26414" y="4662088"/>
            <a:ext cx="3364858" cy="48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Hardware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2769" y="4662088"/>
            <a:ext cx="3024616" cy="48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46055" y="4662088"/>
            <a:ext cx="3024616" cy="48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Teamwork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49904" y="8989019"/>
            <a:ext cx="3024616" cy="48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Sensors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D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0891" y="5385812"/>
            <a:ext cx="3941514" cy="802695"/>
            <a:chOff x="0" y="0"/>
            <a:chExt cx="1038094" cy="2114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094" cy="211409"/>
            </a:xfrm>
            <a:custGeom>
              <a:avLst/>
              <a:gdLst/>
              <a:ahLst/>
              <a:cxnLst/>
              <a:rect r="r" b="b" t="t" l="l"/>
              <a:pathLst>
                <a:path h="211409" w="1038094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52DE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038094" cy="163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9901675" y="543675"/>
            <a:ext cx="6724108" cy="9199650"/>
          </a:xfrm>
          <a:custGeom>
            <a:avLst/>
            <a:gdLst/>
            <a:ahLst/>
            <a:cxnLst/>
            <a:rect r="r" b="b" t="t" l="l"/>
            <a:pathLst>
              <a:path h="9199650" w="6724108">
                <a:moveTo>
                  <a:pt x="6724108" y="0"/>
                </a:moveTo>
                <a:lnTo>
                  <a:pt x="0" y="0"/>
                </a:lnTo>
                <a:lnTo>
                  <a:pt x="0" y="9199650"/>
                </a:lnTo>
                <a:lnTo>
                  <a:pt x="6724108" y="9199650"/>
                </a:lnTo>
                <a:lnTo>
                  <a:pt x="67241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9647" y="3862206"/>
            <a:ext cx="9144000" cy="122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4"/>
              </a:lnSpc>
            </a:pPr>
            <a:r>
              <a:rPr lang="en-US" b="true" sz="8984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86714" y="5656263"/>
            <a:ext cx="4329868" cy="33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b="true" sz="2544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QUESTIONS?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2686" y="3070401"/>
            <a:ext cx="5097922" cy="33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544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HACKATHON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DAGePmEN_RY</dc:identifier>
  <dcterms:modified xsi:type="dcterms:W3CDTF">2011-08-01T06:04:30Z</dcterms:modified>
  <cp:revision>1</cp:revision>
  <dc:title>Fall detection chest strap</dc:title>
</cp:coreProperties>
</file>